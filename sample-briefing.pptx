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1016000"/>
            <a:ext cx="7620000" cy="76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800" b="true">
                <a:solidFill>
                  <a:srgbClr val="404040"/>
                </a:solidFill>
              </a:rPr>
              <a:t>GovOS Bangladesh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905000"/>
            <a:ext cx="7620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000" b="false">
                <a:solidFill>
                  <a:srgbClr val="404040"/>
                </a:solidFill>
              </a:rPr>
              <a:t>Monthly National Briefing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508000" y="2794000"/>
            <a:ext cx="7620000" cy="381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400" b="false">
                <a:solidFill>
                  <a:srgbClr val="404040"/>
                </a:solidFill>
              </a:rPr>
              <a:t>30 Jul 2026 · Office of the Prime Minister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7620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200" b="true">
                <a:solidFill>
                  <a:srgbClr val="404040"/>
                </a:solidFill>
              </a:rPr>
              <a:t>National Snapshot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016000"/>
            <a:ext cx="8128000" cy="355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600" b="false">
                <a:solidFill>
                  <a:srgbClr val="404040"/>
                </a:solidFill>
              </a:rPr>
              <a:t>Reports today: 2
Active alerts: 4
Ongoing projects: 9
Delayed projects: 1
FDI (USD m): 2570.00
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7620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200" b="true">
                <a:solidFill>
                  <a:srgbClr val="404040"/>
                </a:solidFill>
              </a:rPr>
              <a:t>Key Indicators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016000"/>
            <a:ext cx="8128000" cy="457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400" b="false">
                <a:solidFill>
                  <a:srgbClr val="404040"/>
                </a:solidFill>
              </a:rPr>
              <a:t>GDP Growth: 5.8000 %
Inflation (CPI): 8.9000 %
Foreign Exchange Reserve: 26.4000 USD bn
Tax Collection (FYTD): 285000.0000 BDT crore
National Debt: 48.2000 % of GDP
Electricity Generation Capacity: 28.5000 GW
Load Shedding (avg): 0.4000 hrs/day
Rice Production (est.): 39.1000 million MT
Public Food Stock: 1.6500 million MT
Fertilizer Stock: 1.2000 million MT
School Attendance Rate: 86.5000 %
Secondary Dropout Rate: 12.4000 %
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7620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200" b="true">
                <a:solidFill>
                  <a:srgbClr val="404040"/>
                </a:solidFill>
              </a:rPr>
              <a:t>Mega Projects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016000"/>
            <a:ext cx="8128000" cy="4572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300" b="false">
                <a:solidFill>
                  <a:srgbClr val="404040"/>
                </a:solidFill>
              </a:rPr>
              <a:t>Rooppur Nuclear Power Plant — 72.00% (ONGOING)
Dhaka Metro Rail Line-1 — 28.00% (ONGOING)
Matarbari Ultra Super Critical Coal Power — 81.00% (ONGOING)
Padma Bridge Rail Link — 89.00% (ONGOING)
District Hospital Capacity Expansion — 54.00% (ONGOING)
Primary School Infrastructure Upgrade — 52.00% (ONGOING)
Northern Irrigation Modernization — 35.00% (DELAYED)
National Food Storage Expansion — 48.00% (ONGOING)
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508000" y="381000"/>
            <a:ext cx="7620000" cy="4572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2200" b="true">
                <a:solidFill>
                  <a:srgbClr val="404040"/>
                </a:solidFill>
              </a:rPr>
              <a:t>AI Recommendations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508000" y="1016000"/>
            <a:ext cx="8128000" cy="4826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en-US"/>
              <a:t/>
            </a:r>
            <a:endParaRPr lang="en-US" sz="1100"/>
          </a:p>
          <a:p>
            <a:r>
              <a:rPr lang="en-US" sz="1200" b="false">
                <a:solidFill>
                  <a:srgbClr val="404040"/>
                </a:solidFill>
              </a:rPr>
              <a:t>• Budget deficit watch — transport heavy disbursements
  Weekly cash-flow review with Finance Division recommended to avoid Q4 liquidity stress.
• Dengue surge preparedness
  Activate larva drives, expand fever clinics, ensure platelet/IV stocks for 4 weeks.
• Intervene on delayed irrigation project
  Northern Irrigation at 35% with 210-day delay. Escalate land acquisition to DC task force.
• Accelerate food stock replenishment before monsoon
  Public food stock declining (-3%). Procure 0.3 MT rice and pre-position in northern warehouses.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